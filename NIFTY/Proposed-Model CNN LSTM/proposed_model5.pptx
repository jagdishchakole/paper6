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5699-0A82-180D-07CB-CE0BC4EA3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2F6A3-48B3-5713-0124-7FFC035A5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B85BC-CEF1-7632-C39C-4611C9CD9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DC227-E820-1CAD-CFF2-9EBE4005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C588-A178-037F-93D8-68B54088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31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9763-8B31-5F0E-2616-0FE0C6DE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6849-F83E-A102-ADD4-F01DEFBB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B26CA-B2DC-F5D8-B91F-8283EB3A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CE39E-71F1-1D92-2E2B-598EF864D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D403E-C525-46F7-4508-2802094A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55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6E14-30D8-94CD-E15B-1993336E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FA7E1-72A2-A5DF-7DF4-F317BC1B6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F335D-98B1-A216-B479-D7E58563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F94C3-3EDB-13B2-DE1A-6449AF1E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C66A-BFFC-A786-531A-7A3AB611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78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3D9A-9BB0-2957-FB13-516E63D2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6BBD-544E-375E-B433-BEBD95FE4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B5DEE-9F9B-D211-AC04-C61278E0B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D56EA-208E-20F5-33C3-3F8141E3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40455-1677-0314-6131-57026627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863B0-38FA-AD9F-4048-8F241DB3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9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D95C2-F291-AD94-4F3E-0F494F68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AF2DD-EE25-FEB5-4BBD-F35592902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11A03-0E8E-C310-D9FC-EF1F47A7B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26C6A-04F4-1726-1EDE-10B86ADAF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1C84B-A94C-B04F-988A-244375A8E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3E671-995D-EEA6-2A0C-19B492CD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1EAAF-EF48-67A6-8543-0626F347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CC374-A63B-A9BC-56C7-EEF33964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6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6C54-8086-17E5-B27F-D415CD88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47E5C-8EBE-F4D9-C8CC-73A58F73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A81DD-1829-F2A5-AB63-F6A0E09C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511D3-72D8-90F6-0BFB-EF453DE1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8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FB39A5-A873-88FB-F0A3-0236670E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122A5-A479-159D-4215-D1C7A941A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64C2-BF2A-2A36-F1D7-14A98668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9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9B5F-50C8-8FA7-E65C-BD81D7B2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143E-53E6-F373-C2FE-BB47532DF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1FF33-1B21-43B8-C227-8022A4F47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E272D-93A3-EF2D-BAE1-97824113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1FF8A-5A8B-C169-1516-77B6677F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3077F-103A-895D-A1D9-B1059128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84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C7BF-D612-C584-8AFF-B8D38CD3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66F1-9B01-8D4A-AB3B-80EFEC590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A57B8-C042-8825-015C-E0EAD605F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61C78-5450-4897-4393-15DC17FA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5C955-D582-44EB-9D85-2D639CDA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F2B73-62E9-BDBD-2F5D-34286FAE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74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AD2B-95A9-7BB1-3A1C-A29C2F3C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E9AD7-FD4D-EFB6-0F58-D5EF6FEA8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AE3D8-055E-632A-9E72-90E12F41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DDBC-FAC1-5D1C-6E02-613DD29A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C6353-02AB-30DC-B5E0-9D479E17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9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7A9292-2488-F7EC-B896-208924792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AA197-0CC8-9758-6F4D-EA68C5A66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07A69-29D3-B7E7-1D84-76F6E6DC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5EBC-9359-A3D1-E219-5B1C2622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57BFA-9B20-B9DF-A175-7910EE7A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4306D-6115-EF94-905A-268DDD74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396FE-9091-A09D-5E23-73D361FA1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95E48-9909-B0C2-4E4F-AFF59471E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2DE2-9EBB-31B3-832F-804558621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98FC4-C7A1-A441-93BF-4AAAAFFE8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16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23C9DA-8D35-9BB8-6E97-FACC667B533F}"/>
              </a:ext>
            </a:extLst>
          </p:cNvPr>
          <p:cNvSpPr/>
          <p:nvPr/>
        </p:nvSpPr>
        <p:spPr>
          <a:xfrm>
            <a:off x="652261" y="191558"/>
            <a:ext cx="1529868" cy="12254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Historical and Live stock market data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2F7671C-2629-5D24-9693-DF051B379EFA}"/>
              </a:ext>
            </a:extLst>
          </p:cNvPr>
          <p:cNvSpPr/>
          <p:nvPr/>
        </p:nvSpPr>
        <p:spPr>
          <a:xfrm>
            <a:off x="2184882" y="723900"/>
            <a:ext cx="415443" cy="1787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55C2C6D1-0253-2DB2-F43F-798BC6E694C4}"/>
              </a:ext>
            </a:extLst>
          </p:cNvPr>
          <p:cNvSpPr/>
          <p:nvPr/>
        </p:nvSpPr>
        <p:spPr>
          <a:xfrm>
            <a:off x="4881727" y="119646"/>
            <a:ext cx="2300905" cy="1328808"/>
          </a:xfrm>
          <a:prstGeom prst="hexag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SHAP: </a:t>
            </a:r>
            <a:r>
              <a:rPr lang="en-IN" b="1" dirty="0" err="1">
                <a:solidFill>
                  <a:schemeClr val="tx1"/>
                </a:solidFill>
              </a:rPr>
              <a:t>Expenable</a:t>
            </a:r>
            <a:r>
              <a:rPr lang="en-IN" b="1" dirty="0">
                <a:solidFill>
                  <a:schemeClr val="tx1"/>
                </a:solidFill>
              </a:rPr>
              <a:t> AI to select most suitable features</a:t>
            </a:r>
          </a:p>
          <a:p>
            <a:pPr algn="ctr"/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EDC251A-ECBC-B658-609E-481E965CAA51}"/>
              </a:ext>
            </a:extLst>
          </p:cNvPr>
          <p:cNvSpPr/>
          <p:nvPr/>
        </p:nvSpPr>
        <p:spPr>
          <a:xfrm>
            <a:off x="4182367" y="404383"/>
            <a:ext cx="857995" cy="175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AD3B5B5-10D4-D7CE-1E95-9061C54BEE04}"/>
              </a:ext>
            </a:extLst>
          </p:cNvPr>
          <p:cNvSpPr/>
          <p:nvPr/>
        </p:nvSpPr>
        <p:spPr>
          <a:xfrm>
            <a:off x="4166066" y="984584"/>
            <a:ext cx="868993" cy="186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30690A-BA3E-7E2C-D52F-97FB46D57262}"/>
              </a:ext>
            </a:extLst>
          </p:cNvPr>
          <p:cNvSpPr/>
          <p:nvPr/>
        </p:nvSpPr>
        <p:spPr>
          <a:xfrm>
            <a:off x="7775483" y="89379"/>
            <a:ext cx="1790105" cy="138934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Selected  most relevant features for CNN</a:t>
            </a:r>
          </a:p>
        </p:txBody>
      </p:sp>
      <p:sp useBgFill="1"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EC910F-4D78-0D27-B578-476841050AE3}"/>
              </a:ext>
            </a:extLst>
          </p:cNvPr>
          <p:cNvSpPr/>
          <p:nvPr/>
        </p:nvSpPr>
        <p:spPr>
          <a:xfrm rot="5400000">
            <a:off x="4238263" y="4617562"/>
            <a:ext cx="1740422" cy="774667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7D1CD94-ED30-ED04-3DD2-35A2E964B8E0}"/>
              </a:ext>
            </a:extLst>
          </p:cNvPr>
          <p:cNvSpPr/>
          <p:nvPr/>
        </p:nvSpPr>
        <p:spPr>
          <a:xfrm>
            <a:off x="9565588" y="575906"/>
            <a:ext cx="450424" cy="3058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BD60BF62-C962-76F5-A54C-E6CA2041A9D9}"/>
              </a:ext>
            </a:extLst>
          </p:cNvPr>
          <p:cNvSpPr/>
          <p:nvPr/>
        </p:nvSpPr>
        <p:spPr>
          <a:xfrm>
            <a:off x="4960220" y="4279193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DFEF812-B71D-5B8F-1CB6-E65D0D94F57C}"/>
              </a:ext>
            </a:extLst>
          </p:cNvPr>
          <p:cNvSpPr/>
          <p:nvPr/>
        </p:nvSpPr>
        <p:spPr>
          <a:xfrm>
            <a:off x="480362" y="89378"/>
            <a:ext cx="11668125" cy="6445893"/>
          </a:xfrm>
          <a:prstGeom prst="roundRect">
            <a:avLst>
              <a:gd name="adj" fmla="val 5396"/>
            </a:avLst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DFD13E2E-6869-A232-2E9C-0765CFD1D173}"/>
              </a:ext>
            </a:extLst>
          </p:cNvPr>
          <p:cNvSpPr/>
          <p:nvPr/>
        </p:nvSpPr>
        <p:spPr>
          <a:xfrm>
            <a:off x="2165204" y="4515589"/>
            <a:ext cx="1906835" cy="667349"/>
          </a:xfrm>
          <a:prstGeom prst="hexagon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State of the Environment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866AAC7-E937-031A-DA9C-90599C3E20F2}"/>
              </a:ext>
            </a:extLst>
          </p:cNvPr>
          <p:cNvSpPr/>
          <p:nvPr/>
        </p:nvSpPr>
        <p:spPr>
          <a:xfrm rot="10800000">
            <a:off x="5505965" y="4424161"/>
            <a:ext cx="1881913" cy="425102"/>
          </a:xfrm>
          <a:prstGeom prst="rightArrow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FB6A6-E9B3-71EC-2361-415B32FF7B35}"/>
              </a:ext>
            </a:extLst>
          </p:cNvPr>
          <p:cNvSpPr txBox="1"/>
          <p:nvPr/>
        </p:nvSpPr>
        <p:spPr>
          <a:xfrm>
            <a:off x="526542" y="5464738"/>
            <a:ext cx="207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RL Environment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ADB7A3-F087-4E71-A2B1-C96C168BD4F5}"/>
              </a:ext>
            </a:extLst>
          </p:cNvPr>
          <p:cNvSpPr/>
          <p:nvPr/>
        </p:nvSpPr>
        <p:spPr>
          <a:xfrm>
            <a:off x="2626412" y="89379"/>
            <a:ext cx="1529868" cy="13893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Extracted Features based on Technical Indicators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CA2ED3C-13C5-3EA7-8EE4-CE73DB5C1BA6}"/>
              </a:ext>
            </a:extLst>
          </p:cNvPr>
          <p:cNvSpPr/>
          <p:nvPr/>
        </p:nvSpPr>
        <p:spPr>
          <a:xfrm>
            <a:off x="7137722" y="667643"/>
            <a:ext cx="714905" cy="2139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AE4437-FFF3-BAAB-210E-9E4990D2899D}"/>
              </a:ext>
            </a:extLst>
          </p:cNvPr>
          <p:cNvSpPr/>
          <p:nvPr/>
        </p:nvSpPr>
        <p:spPr>
          <a:xfrm>
            <a:off x="10016012" y="159230"/>
            <a:ext cx="1636993" cy="12254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Autocorrelation for Choosing Lookback Window in CNN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0F442D-5DEB-67A7-9B24-E68A1277E813}"/>
              </a:ext>
            </a:extLst>
          </p:cNvPr>
          <p:cNvSpPr/>
          <p:nvPr/>
        </p:nvSpPr>
        <p:spPr>
          <a:xfrm>
            <a:off x="7588019" y="5362576"/>
            <a:ext cx="745092" cy="8643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CNN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A4C86B-678C-CD82-559A-47C777238C85}"/>
              </a:ext>
            </a:extLst>
          </p:cNvPr>
          <p:cNvSpPr/>
          <p:nvPr/>
        </p:nvSpPr>
        <p:spPr>
          <a:xfrm>
            <a:off x="9997701" y="2243193"/>
            <a:ext cx="1874493" cy="138430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2D data formation for CNN using 18 features for 20 days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EECA4DB-73AC-949E-DCDB-5B5C61743468}"/>
              </a:ext>
            </a:extLst>
          </p:cNvPr>
          <p:cNvSpPr/>
          <p:nvPr/>
        </p:nvSpPr>
        <p:spPr>
          <a:xfrm rot="5400000">
            <a:off x="10968408" y="1660641"/>
            <a:ext cx="847258" cy="2954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A44B2B5-8CF4-B30B-2324-16D7FB3FC55F}"/>
              </a:ext>
            </a:extLst>
          </p:cNvPr>
          <p:cNvSpPr/>
          <p:nvPr/>
        </p:nvSpPr>
        <p:spPr>
          <a:xfrm>
            <a:off x="7982554" y="2721542"/>
            <a:ext cx="1904472" cy="10044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Autocorrelation for Choosing Lookback Window in LSTM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6ED73BA-D775-B810-580B-DBC05ECC73F3}"/>
              </a:ext>
            </a:extLst>
          </p:cNvPr>
          <p:cNvSpPr/>
          <p:nvPr/>
        </p:nvSpPr>
        <p:spPr>
          <a:xfrm>
            <a:off x="6427878" y="1439834"/>
            <a:ext cx="1790105" cy="138934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Selected  most relevant features for LSTM</a:t>
            </a:r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9451864A-3B25-FD64-4DEA-517DEC801674}"/>
              </a:ext>
            </a:extLst>
          </p:cNvPr>
          <p:cNvSpPr/>
          <p:nvPr/>
        </p:nvSpPr>
        <p:spPr>
          <a:xfrm rot="5400000">
            <a:off x="5243527" y="1327886"/>
            <a:ext cx="1137912" cy="1251567"/>
          </a:xfrm>
          <a:prstGeom prst="bentUpArrow">
            <a:avLst>
              <a:gd name="adj1" fmla="val 25000"/>
              <a:gd name="adj2" fmla="val 25000"/>
              <a:gd name="adj3" fmla="val 227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8B7865AB-2235-271B-9405-99976C8DD3F6}"/>
              </a:ext>
            </a:extLst>
          </p:cNvPr>
          <p:cNvSpPr/>
          <p:nvPr/>
        </p:nvSpPr>
        <p:spPr>
          <a:xfrm rot="5400000">
            <a:off x="7101185" y="2607605"/>
            <a:ext cx="739715" cy="107618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6C90A831-9355-7A5B-9F9B-4D1986B17005}"/>
              </a:ext>
            </a:extLst>
          </p:cNvPr>
          <p:cNvSpPr/>
          <p:nvPr/>
        </p:nvSpPr>
        <p:spPr>
          <a:xfrm>
            <a:off x="7242923" y="3919779"/>
            <a:ext cx="1503871" cy="1008765"/>
          </a:xfrm>
          <a:prstGeom prst="hexag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Attention LSTM</a:t>
            </a:r>
            <a:endParaRPr lang="en-IN" dirty="0"/>
          </a:p>
        </p:txBody>
      </p:sp>
      <p:sp>
        <p:nvSpPr>
          <p:cNvPr id="38" name="Arrow: Bent-Up 37">
            <a:extLst>
              <a:ext uri="{FF2B5EF4-FFF2-40B4-BE49-F238E27FC236}">
                <a16:creationId xmlns:a16="http://schemas.microsoft.com/office/drawing/2014/main" id="{B86446C8-166B-0192-84AB-AC7112FBF651}"/>
              </a:ext>
            </a:extLst>
          </p:cNvPr>
          <p:cNvSpPr/>
          <p:nvPr/>
        </p:nvSpPr>
        <p:spPr>
          <a:xfrm rot="5400000" flipV="1">
            <a:off x="8301743" y="3674792"/>
            <a:ext cx="2932880" cy="2788084"/>
          </a:xfrm>
          <a:prstGeom prst="bentUpArrow">
            <a:avLst>
              <a:gd name="adj1" fmla="val 9709"/>
              <a:gd name="adj2" fmla="val 28125"/>
              <a:gd name="adj3" fmla="val 283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Bent-Up 39">
            <a:extLst>
              <a:ext uri="{FF2B5EF4-FFF2-40B4-BE49-F238E27FC236}">
                <a16:creationId xmlns:a16="http://schemas.microsoft.com/office/drawing/2014/main" id="{678F39C4-C8F1-D5F9-5E93-6CEF7ABF88B5}"/>
              </a:ext>
            </a:extLst>
          </p:cNvPr>
          <p:cNvSpPr/>
          <p:nvPr/>
        </p:nvSpPr>
        <p:spPr>
          <a:xfrm rot="5400000" flipV="1">
            <a:off x="8712129" y="3681250"/>
            <a:ext cx="1004435" cy="997935"/>
          </a:xfrm>
          <a:prstGeom prst="bentUpArrow">
            <a:avLst>
              <a:gd name="adj1" fmla="val 9709"/>
              <a:gd name="adj2" fmla="val 28125"/>
              <a:gd name="adj3" fmla="val 283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762BDB4-5024-7CEC-CEB7-C4B934F11044}"/>
              </a:ext>
            </a:extLst>
          </p:cNvPr>
          <p:cNvSpPr/>
          <p:nvPr/>
        </p:nvSpPr>
        <p:spPr>
          <a:xfrm rot="10800000">
            <a:off x="5546995" y="5432926"/>
            <a:ext cx="2041023" cy="324943"/>
          </a:xfrm>
          <a:prstGeom prst="rightArrow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FAB1928C-C4C0-732C-90BC-63F4C08F24BD}"/>
              </a:ext>
            </a:extLst>
          </p:cNvPr>
          <p:cNvSpPr/>
          <p:nvPr/>
        </p:nvSpPr>
        <p:spPr>
          <a:xfrm>
            <a:off x="4960219" y="4622844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F4CAB23B-DBA3-C42E-A69A-5DD875532C0B}"/>
              </a:ext>
            </a:extLst>
          </p:cNvPr>
          <p:cNvSpPr/>
          <p:nvPr/>
        </p:nvSpPr>
        <p:spPr>
          <a:xfrm>
            <a:off x="4960219" y="5422928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CDF4F43C-1519-D784-81C0-1C31397E04B6}"/>
              </a:ext>
            </a:extLst>
          </p:cNvPr>
          <p:cNvSpPr/>
          <p:nvPr/>
        </p:nvSpPr>
        <p:spPr>
          <a:xfrm>
            <a:off x="5077979" y="5068283"/>
            <a:ext cx="47626" cy="57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539F51C2-F30A-A517-9696-C81EDA4D0E9D}"/>
              </a:ext>
            </a:extLst>
          </p:cNvPr>
          <p:cNvSpPr/>
          <p:nvPr/>
        </p:nvSpPr>
        <p:spPr>
          <a:xfrm>
            <a:off x="5081656" y="5231960"/>
            <a:ext cx="47626" cy="57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9BB4B5B-35A3-7898-6C39-7FF4F7B8EAE1}"/>
              </a:ext>
            </a:extLst>
          </p:cNvPr>
          <p:cNvSpPr/>
          <p:nvPr/>
        </p:nvSpPr>
        <p:spPr>
          <a:xfrm rot="10800000">
            <a:off x="3979010" y="4596248"/>
            <a:ext cx="774667" cy="425102"/>
          </a:xfrm>
          <a:prstGeom prst="rightArrow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8CD3F0F6-1401-A73F-6B8A-8B742EA50F76}"/>
              </a:ext>
            </a:extLst>
          </p:cNvPr>
          <p:cNvSpPr/>
          <p:nvPr/>
        </p:nvSpPr>
        <p:spPr>
          <a:xfrm rot="5400000">
            <a:off x="2343731" y="5810831"/>
            <a:ext cx="1675062" cy="4192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40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Jagdish Chakole</dc:creator>
  <cp:lastModifiedBy>Jagdish Chakole</cp:lastModifiedBy>
  <cp:revision>15</cp:revision>
  <dcterms:created xsi:type="dcterms:W3CDTF">2024-08-27T08:36:23Z</dcterms:created>
  <dcterms:modified xsi:type="dcterms:W3CDTF">2025-02-28T06:58:13Z</dcterms:modified>
</cp:coreProperties>
</file>